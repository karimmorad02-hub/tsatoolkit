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calidraw.com/#json=JRc6HIQ6JCYY6Hgb25AjN,SeNIBmzVCsEGjPgApUiVA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calidraw.com/#json=I18_GDCG_l5pUvUtMCJi0,E6xdB-w-tVsSC-15W27bB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calidraw.com/#json=tDY3C33kFr8SUdz-bOU9Y,4kzK6aF-nYfq8lFbp1GMl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calidraw.com/#json=IbDEGJdWuz1y2huDydQpH,mN27lFRAjLwPyxtUoNNZ_Q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calidraw.com/#json=NXa2eVvbfBptGZGBFDNb9,zXs85MnAvQe5D28fAinTtQ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calidraw.com/#json=15v3fu0fGzV0OJ_AB2p7N,RZ74uM9kbSdaVENfq2swLw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aic_ts_suite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2D3EE"/>
                </a:solidFill>
                <a:latin typeface="Calibri"/>
              </a:defRPr>
            </a:pPr>
            <a:r>
              <a:t>Modular Time-Series Forecasting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AE"/>
                </a:solidFill>
                <a:latin typeface="Calibri"/>
              </a:defRPr>
            </a:pPr>
            <a:r>
              <a:t>CTO Technical Briefing  |  Analytics Engineering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66160"/>
            <a:ext cx="274320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164592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A8F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AAE"/>
                </a:solidFill>
                <a:latin typeface="Calibri"/>
              </a:defRPr>
            </a:pPr>
            <a:r>
              <a:t>Forecasting</a:t>
            </a:r>
            <a:br/>
            <a:r>
              <a:t>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4114800"/>
            <a:ext cx="164592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206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A8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709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AAE"/>
                </a:solidFill>
                <a:latin typeface="Calibri"/>
              </a:defRPr>
            </a:pPr>
            <a:r>
              <a:t>Algorithm</a:t>
            </a:r>
            <a:br/>
            <a:r>
              <a:t>Paradigms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4114800"/>
            <a:ext cx="164592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206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A8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709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AAE"/>
                </a:solidFill>
                <a:latin typeface="Calibri"/>
              </a:defRPr>
            </a:pPr>
            <a:r>
              <a:t>Evaluation</a:t>
            </a:r>
            <a:br/>
            <a:r>
              <a:t>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14800"/>
            <a:ext cx="164592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206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A8F6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709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AAE"/>
                </a:solidFill>
                <a:latin typeface="Calibri"/>
              </a:defRPr>
            </a:pPr>
            <a:r>
              <a:t>Python</a:t>
            </a:r>
            <a:br/>
            <a:r>
              <a:t>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114800"/>
            <a:ext cx="164592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4206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A8F6"/>
                </a:solidFill>
                <a:latin typeface="Calibri"/>
              </a:defRPr>
            </a:pPr>
            <a:r>
              <a:t>~3K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709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AAE"/>
                </a:solidFill>
                <a:latin typeface="Calibri"/>
              </a:defRPr>
            </a:pPr>
            <a:r>
              <a:t>Lines of</a:t>
            </a:r>
            <a:br/>
            <a: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AE"/>
                </a:solidFill>
                <a:latin typeface="Calibri"/>
              </a:defRPr>
            </a:pPr>
            <a:r>
              <a:t>March 2026  |  v0.1.0  |  Python 3.10+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What this toolkit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  <a:r>
              <a:t>End-to-end time-series forecasting framework that unifies: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Data ingestion from CSV, Excel, TimescaleDB, and Open-Meteo weather API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Automated cleaning with fluent DataCleaner pipeline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Feature engineering: lags, rolling stats, Fourier harmonics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9 forecasting models across 4 paradigms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5 standardised KPIs with model comparison leaderboard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UUID-based end-to-end run traceability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YAML-driven experiment orchestration with checkpointing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1463040"/>
            <a:ext cx="109728" cy="109728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53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F6"/>
                </a:solidFill>
                <a:latin typeface="Calibri"/>
              </a:defRPr>
            </a:pPr>
            <a:r>
              <a:t>Model-Agnostic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27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Unified ForecastResult interface</a:t>
            </a:r>
            <a:br/>
            <a:r>
              <a:t>for all 9 algorithms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40280"/>
            <a:ext cx="530352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242316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Zero-to-Leaderboard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877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Complete pipeline in 20 lines</a:t>
            </a:r>
            <a:br/>
            <a:r>
              <a:t>of Python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530352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3383280"/>
            <a:ext cx="109728" cy="109728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73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Reproducible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47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YAML config + checkpointing</a:t>
            </a:r>
            <a:br/>
            <a:r>
              <a:t>+ resume capability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60520"/>
            <a:ext cx="530352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434340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33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Full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07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UUID v4 correlation IDs flow</a:t>
            </a:r>
            <a:br/>
            <a:r>
              <a:t>through every 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120640"/>
            <a:ext cx="530352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530352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1937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Calibri"/>
              </a:defRPr>
            </a:pPr>
            <a:r>
              <a:t>Modular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468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Use only what you need</a:t>
            </a:r>
            <a:br/>
            <a:r>
              <a:t>Each package is independent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Layered module architecture</a:t>
            </a:r>
          </a:p>
        </p:txBody>
      </p:sp>
      <p:sp>
        <p:nvSpPr>
          <p:cNvPr id="5" name="Rounded Rectangle 4">
            <a:hlinkClick r:id="rId2"/>
          </p:cNvPr>
          <p:cNvSpPr/>
          <p:nvPr/>
        </p:nvSpPr>
        <p:spPr>
          <a:xfrm>
            <a:off x="9601200" y="320040"/>
            <a:ext cx="201168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View on Excalidraw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Calibri"/>
              </a:defRPr>
            </a:pPr>
            <a:r>
              <a:t>EVALUATION &amp;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9164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7099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alibri"/>
              </a:defRPr>
            </a:pPr>
            <a:r>
              <a:t>evaluation/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476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5 KPIs, Leaderboard</a:t>
            </a:r>
            <a:br/>
            <a:r>
              <a:t>Traceability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69164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7099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alibri"/>
              </a:defRPr>
            </a:pPr>
            <a:r>
              <a:t>viz/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476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5 plot types</a:t>
            </a:r>
            <a:br/>
            <a:r>
              <a:t>Matplotlib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69164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7099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alibri"/>
              </a:defRPr>
            </a:pPr>
            <a:r>
              <a:t>display/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19476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Styled HTML</a:t>
            </a:r>
            <a:br/>
            <a:r>
              <a:t>Metric cards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06040"/>
            <a:ext cx="1106424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FORECASTING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20140" y="292608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1580" y="29443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univariate/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1580" y="31821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AutoARIMA</a:t>
            </a:r>
            <a:br/>
            <a:r>
              <a:t>AutoETS, HW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4740" y="292608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6180" y="29443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ml_models/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6180" y="31821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XGBoost</a:t>
            </a:r>
            <a:br/>
            <a:r>
              <a:t>Prophet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9340" y="292608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0780" y="29443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neural/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0780" y="31821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NHITS, MLP</a:t>
            </a:r>
            <a:br/>
            <a:r>
              <a:t>TimeGPT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3940" y="292608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5380" y="29443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multivariate/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5380" y="31821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VAR +</a:t>
            </a:r>
            <a:br/>
            <a:r>
              <a:t>Granger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840480"/>
            <a:ext cx="1106424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TRANSFORM &amp; FEATURES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4740" y="416052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26180" y="41788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signals/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6180" y="4416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Log, Sqrt</a:t>
            </a:r>
            <a:br/>
            <a:r>
              <a:t>Box-Cox (lambda)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9340" y="416052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0780" y="41788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features/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0780" y="4416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Lags, Rolling Stats</a:t>
            </a:r>
            <a:br/>
            <a:r>
              <a:t>Fourier Harmonics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A8F6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0140" y="539496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1580" y="5413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A8F6"/>
                </a:solidFill>
                <a:latin typeface="Calibri"/>
              </a:defRPr>
            </a:pPr>
            <a:r>
              <a:t>config/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1580" y="5650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Singleton</a:t>
            </a:r>
            <a:br/>
            <a:r>
              <a:t>UUID v4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34740" y="539496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26180" y="5413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A8F6"/>
                </a:solidFill>
                <a:latin typeface="Calibri"/>
              </a:defRPr>
            </a:pPr>
            <a:r>
              <a:t>connectivity/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6180" y="5650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CSV, Excel</a:t>
            </a:r>
            <a:br/>
            <a:r>
              <a:t>TimescaleDB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9340" y="539496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0780" y="5413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A8F6"/>
                </a:solidFill>
                <a:latin typeface="Calibri"/>
              </a:defRPr>
            </a:pPr>
            <a:r>
              <a:t>cleaning/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0780" y="5650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DataCleaner</a:t>
            </a:r>
            <a:br/>
            <a:r>
              <a:t>Fluent API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63940" y="5394960"/>
            <a:ext cx="2377440" cy="658368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55380" y="5413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A8F6"/>
                </a:solidFill>
                <a:latin typeface="Calibri"/>
              </a:defRPr>
            </a:pPr>
            <a:r>
              <a:t>weather/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55380" y="5650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AAE"/>
                </a:solidFill>
                <a:latin typeface="Calibri"/>
              </a:defRPr>
            </a:pPr>
            <a:r>
              <a:t>Open-Meteo</a:t>
            </a:r>
            <a:br/>
            <a:r>
              <a:t>API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6007608" y="2408428"/>
            <a:ext cx="146304" cy="146304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6007608" y="3642868"/>
            <a:ext cx="146304" cy="146304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6007608" y="4877308"/>
            <a:ext cx="146304" cy="146304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Pipeline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End-to-end data journey from ingestion to output</a:t>
            </a:r>
          </a:p>
        </p:txBody>
      </p:sp>
      <p:sp>
        <p:nvSpPr>
          <p:cNvPr id="5" name="Rounded Rectangle 4">
            <a:hlinkClick r:id="rId2"/>
          </p:cNvPr>
          <p:cNvSpPr/>
          <p:nvPr/>
        </p:nvSpPr>
        <p:spPr>
          <a:xfrm>
            <a:off x="9601200" y="320040"/>
            <a:ext cx="201168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View on Excalidraw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291840" cy="20116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20040" cy="320040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F6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Calibri"/>
              </a:defRPr>
            </a:pPr>
            <a:r>
              <a:t>CSV / Excel / TimescaleDB</a:t>
            </a:r>
            <a:br/>
            <a:r>
              <a:t>Open-Meteo Weather API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86200" y="2313432"/>
            <a:ext cx="274320" cy="128016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291840" cy="20116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320040" cy="320040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F6"/>
                </a:solidFill>
                <a:latin typeface="Calibri"/>
              </a:defRPr>
            </a:pPr>
            <a:r>
              <a:t>DataCleaner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659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Calibri"/>
              </a:defRPr>
            </a:pPr>
            <a:r>
              <a:t>.load() -&gt; .sanitize()</a:t>
            </a:r>
            <a:br/>
            <a:r>
              <a:t>.set_datetime_index() -&gt; .result()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43800" y="2313432"/>
            <a:ext cx="274320" cy="128016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1371600"/>
            <a:ext cx="3291840" cy="20116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1000" y="1508760"/>
            <a:ext cx="32004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alibri"/>
              </a:defRPr>
            </a:pPr>
            <a:r>
              <a:t>Train / Test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9659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Calibri"/>
              </a:defRPr>
            </a:pPr>
            <a:r>
              <a:t>train = series[:-horizon]</a:t>
            </a:r>
            <a:br/>
            <a:r>
              <a:t>test = series[-horizon:]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3291840" cy="20116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794760"/>
            <a:ext cx="32004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Transforms &amp;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Calibri"/>
              </a:defRPr>
            </a:pPr>
            <a:r>
              <a:t>Log/Sqrt/Box-Cox transforms</a:t>
            </a:r>
            <a:br/>
            <a:r>
              <a:t>Lags + Rolling + Fourier matrix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86200" y="4599432"/>
            <a:ext cx="274320" cy="128016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06240" y="3657600"/>
            <a:ext cx="3291840" cy="20116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43400" y="3794760"/>
            <a:ext cx="32004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Forecasting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2519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Calibri"/>
              </a:defRPr>
            </a:pPr>
            <a:r>
              <a:t>9 models across 4 paradigms</a:t>
            </a:r>
            <a:br/>
            <a:r>
              <a:t>Returns ForecastResult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543800" y="4599432"/>
            <a:ext cx="274320" cy="128016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3657600"/>
            <a:ext cx="3291840" cy="20116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01000" y="3794760"/>
            <a:ext cx="320040" cy="3200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2519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Calibri"/>
              </a:defRPr>
            </a:pPr>
            <a:r>
              <a:t>5 KPIs computed</a:t>
            </a:r>
            <a:br/>
            <a:r>
              <a:t>ModelComparison leaderboard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9445752" y="3410712"/>
            <a:ext cx="128016" cy="219456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5943600"/>
            <a:ext cx="1106424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Calibri"/>
              </a:defRPr>
            </a:pPr>
            <a:r>
              <a:t>Traceability: UUID v4 correlation ID propagates through every stage: DataCleaner -&gt; Forecaster -&gt; ForecastResult -&gt; ModelComparison -&gt; AnalyticsEngineClient -&gt;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Forecasting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9 models across 4 paradigms</a:t>
            </a:r>
          </a:p>
        </p:txBody>
      </p:sp>
      <p:sp>
        <p:nvSpPr>
          <p:cNvPr id="5" name="Rounded Rectangle 4">
            <a:hlinkClick r:id="rId2"/>
          </p:cNvPr>
          <p:cNvSpPr/>
          <p:nvPr/>
        </p:nvSpPr>
        <p:spPr>
          <a:xfrm>
            <a:off x="9601200" y="320040"/>
            <a:ext cx="201168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View on Excalidraw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36576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Classical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20"/>
            <a:ext cx="269748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A8F6"/>
                </a:solidFill>
                <a:latin typeface="Calibri"/>
              </a:defRPr>
            </a:pPr>
            <a:r>
              <a:t>AutoARIMA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5856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Automatic SARIMA</a:t>
            </a:r>
            <a:br/>
            <a:r>
              <a:t>order selection</a:t>
            </a:r>
            <a:br/>
            <a:r>
              <a:t>via AICc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269748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A8F6"/>
                </a:solidFill>
                <a:latin typeface="Calibri"/>
              </a:defRPr>
            </a:pPr>
            <a:r>
              <a:t>AutoETS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7588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18-combo grid</a:t>
            </a:r>
            <a:br/>
            <a:r>
              <a:t>Error/Trend/Season</a:t>
            </a:r>
            <a:br/>
            <a:r>
              <a:t>select by AIC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269748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823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A8F6"/>
                </a:solidFill>
                <a:latin typeface="Calibri"/>
              </a:defRPr>
            </a:pPr>
            <a:r>
              <a:t>Holt-Winters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9320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Exponential</a:t>
            </a:r>
            <a:br/>
            <a:r>
              <a:t>smoothing, add/</a:t>
            </a:r>
            <a:br/>
            <a:r>
              <a:t>mul seasonality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371600"/>
            <a:ext cx="2697480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4173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1874520"/>
            <a:ext cx="269748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9476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25856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Gradient-boosted</a:t>
            </a:r>
            <a:br/>
            <a:r>
              <a:t>trees, 3 quantile</a:t>
            </a:r>
            <a:br/>
            <a:r>
              <a:t>models, recursive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291840"/>
            <a:ext cx="269748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3649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Prophet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67588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Trend + season +</a:t>
            </a:r>
            <a:br/>
            <a:r>
              <a:t>holidays, change-</a:t>
            </a:r>
            <a:br/>
            <a:r>
              <a:t>point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2697480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4173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Multivariate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874520"/>
            <a:ext cx="269748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9476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  <a:latin typeface="Calibri"/>
              </a:defRPr>
            </a:pPr>
            <a:r>
              <a:t>VAR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25856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Vector Auto-</a:t>
            </a:r>
            <a:br/>
            <a:r>
              <a:t>Regression +</a:t>
            </a:r>
            <a:br/>
            <a:r>
              <a:t>Granger causality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1371600"/>
            <a:ext cx="2697480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4173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Neural / Foundation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1874520"/>
            <a:ext cx="269748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9476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Calibri"/>
              </a:defRPr>
            </a:pPr>
            <a:r>
              <a:t>NHITS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25856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Hierarchical</a:t>
            </a:r>
            <a:br/>
            <a:r>
              <a:t>interpolation</a:t>
            </a:r>
            <a:br/>
            <a:r>
              <a:t>deep learning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291840"/>
            <a:ext cx="269748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3649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Calibri"/>
              </a:defRPr>
            </a:pPr>
            <a:r>
              <a:t>MLP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67588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Feed-forward</a:t>
            </a:r>
            <a:br/>
            <a:r>
              <a:t>neural network</a:t>
            </a:r>
            <a:br/>
            <a:r>
              <a:t>baseline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4709160"/>
            <a:ext cx="2697480" cy="12801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47823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Calibri"/>
              </a:defRPr>
            </a:pPr>
            <a:r>
              <a:t>TimeGPT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09320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Foundation model</a:t>
            </a:r>
            <a:br/>
            <a:r>
              <a:t>ZERO-SHOT</a:t>
            </a:r>
            <a:br/>
            <a:r>
              <a:t>No training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Algorithm Comparison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Training, speed, prediction intervals, and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371600" cy="4114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353312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280160"/>
            <a:ext cx="1280160" cy="4114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353312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Paradigm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80160"/>
            <a:ext cx="1097280" cy="4114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1353312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280160"/>
            <a:ext cx="2011680" cy="4114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135331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Pred. Intervals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560320" cy="4114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35331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926080" cy="4114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9952" y="1353312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Key Limitation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09928"/>
            <a:ext cx="137160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80136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A8F6"/>
                </a:solidFill>
                <a:latin typeface="Calibri"/>
              </a:defRPr>
            </a:pPr>
            <a:r>
              <a:t>AutoARIMA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1709928"/>
            <a:ext cx="128016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10512" y="1801368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Classical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709928"/>
            <a:ext cx="10972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0672" y="1801368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seconds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709928"/>
            <a:ext cx="20116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7952" y="1801368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Native (analytical)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709928"/>
            <a:ext cx="256032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1801368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Seasonal + known period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1709928"/>
            <a:ext cx="29260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9952" y="1801368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Linearity assumed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185416"/>
            <a:ext cx="137160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27685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A8F6"/>
                </a:solidFill>
                <a:latin typeface="Calibri"/>
              </a:defRPr>
            </a:pPr>
            <a:r>
              <a:t>AutoETS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2185416"/>
            <a:ext cx="128016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10512" y="227685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Classical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2185416"/>
            <a:ext cx="10972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0672" y="2276856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seconds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2185416"/>
            <a:ext cx="20116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7952" y="2276856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Native (state space)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185416"/>
            <a:ext cx="256032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2276856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Smooth trends + season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185416"/>
            <a:ext cx="29260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9952" y="2276856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No exogenous vars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660904"/>
            <a:ext cx="137160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752344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A8F6"/>
                </a:solidFill>
                <a:latin typeface="Calibri"/>
              </a:defRPr>
            </a:pPr>
            <a:r>
              <a:t>Holt-Winters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2660904"/>
            <a:ext cx="128016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10512" y="2752344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Classical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2660904"/>
            <a:ext cx="10972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90672" y="2752344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seconds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2660904"/>
            <a:ext cx="20116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87952" y="2752344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Simulation-based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2660904"/>
            <a:ext cx="256032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9632" y="2752344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Stable seasonality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2660904"/>
            <a:ext cx="29260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59952" y="2752344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Fixed pattern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136392"/>
            <a:ext cx="137160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3227832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VAR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37360" y="3136392"/>
            <a:ext cx="128016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10512" y="3227832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Multivariate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3136392"/>
            <a:ext cx="10972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90672" y="3227832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seconds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0" y="3136392"/>
            <a:ext cx="20116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322783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Impulse-response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136392"/>
            <a:ext cx="256032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9632" y="322783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Cross-variable lags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3136392"/>
            <a:ext cx="29260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59952" y="3227832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All series stationary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611880"/>
            <a:ext cx="137160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37033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37360" y="3611880"/>
            <a:ext cx="128016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10512" y="370332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3611880"/>
            <a:ext cx="10972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90672" y="370332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sec-min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0" y="3611880"/>
            <a:ext cx="20116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87952" y="3703320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Quantile regression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3611880"/>
            <a:ext cx="256032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99632" y="3703320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Non-linear + features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3611880"/>
            <a:ext cx="29260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59952" y="3703320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Compounding errors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87368"/>
            <a:ext cx="137160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8912" y="417880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Prophet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37360" y="4087368"/>
            <a:ext cx="128016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10512" y="4178808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4087368"/>
            <a:ext cx="10972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90672" y="4178808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minutes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0" y="4087368"/>
            <a:ext cx="20116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87952" y="4178808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Posterior sampling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4087368"/>
            <a:ext cx="256032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99632" y="4178808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Trend breaks + holidays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0" y="4087368"/>
            <a:ext cx="29260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59952" y="4178808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Slower training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4562856"/>
            <a:ext cx="137160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8912" y="465429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  <a:latin typeface="Calibri"/>
              </a:defRPr>
            </a:pPr>
            <a:r>
              <a:t>NHITS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37360" y="4562856"/>
            <a:ext cx="128016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810512" y="465429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Neural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17520" y="4562856"/>
            <a:ext cx="10972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90672" y="4654296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min-hours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0" y="4562856"/>
            <a:ext cx="20116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87952" y="4654296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Not provided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26480" y="4562856"/>
            <a:ext cx="256032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99632" y="4654296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Long-horizon complex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686800" y="4562856"/>
            <a:ext cx="29260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59952" y="4654296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Needs lots of data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5038344"/>
            <a:ext cx="137160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8912" y="5129784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  <a:latin typeface="Calibri"/>
              </a:defRPr>
            </a:pPr>
            <a:r>
              <a:t>MLP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737360" y="5038344"/>
            <a:ext cx="128016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810512" y="5129784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Neural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17520" y="5038344"/>
            <a:ext cx="10972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090672" y="5129784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min-hours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14800" y="5038344"/>
            <a:ext cx="20116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87952" y="5129784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Not provided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26480" y="5038344"/>
            <a:ext cx="256032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99632" y="5129784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Neural baseline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686800" y="5038344"/>
            <a:ext cx="2926080" cy="4572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759952" y="5129784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Needs lots of data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5513832"/>
            <a:ext cx="137160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8912" y="5605272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Calibri"/>
              </a:defRPr>
            </a:pPr>
            <a:r>
              <a:t>TimeGPT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737360" y="5513832"/>
            <a:ext cx="128016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810512" y="5605272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017520" y="5513832"/>
            <a:ext cx="10972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090672" y="5605272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ZERO-SHOT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114800" y="5513832"/>
            <a:ext cx="20116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87952" y="5605272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API-provided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126480" y="5513832"/>
            <a:ext cx="256032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99632" y="560527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Cold-start / prototype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686800" y="5513832"/>
            <a:ext cx="2926080" cy="45720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759952" y="5605272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0E8"/>
                </a:solidFill>
                <a:latin typeface="Calibri"/>
              </a:defRPr>
            </a:pPr>
            <a:r>
              <a:t>API dependency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Selection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When to use which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3931920" cy="8229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463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Do you have training data</a:t>
            </a:r>
            <a:br/>
            <a:r>
              <a:t>and time to train?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560320" cy="8229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Calibri"/>
              </a:defRPr>
            </a:pPr>
            <a:r>
              <a:t>TimeGPT</a:t>
            </a:r>
            <a:br/>
            <a:r>
              <a:t>(zero-shot, no training)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3931920" cy="8229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8346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Is the relationship</a:t>
            </a:r>
            <a:br/>
            <a:r>
              <a:t>linear &amp; seasonal?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4206240"/>
            <a:ext cx="3200400" cy="10972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4251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4EA8F6"/>
                </a:solidFill>
                <a:latin typeface="Calibri"/>
              </a:defRPr>
            </a:pPr>
            <a:r>
              <a:t>Classical Models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E0E0E8"/>
                </a:solidFill>
                <a:latin typeface="Calibri"/>
              </a:defRPr>
            </a:pPr>
            <a:r>
              <a:t>AutoARIMA | AutoETS | Holt-Winters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9A9AAE"/>
                </a:solidFill>
                <a:latin typeface="Calibri"/>
              </a:defRPr>
            </a:pPr>
            <a:r>
              <a:t>Fast, interpretable, 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206240"/>
            <a:ext cx="3474720" cy="8229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297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Multiple related</a:t>
            </a:r>
            <a:br/>
            <a:r>
              <a:t>time series?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5577840"/>
            <a:ext cx="2194560" cy="91440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5623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A855F7"/>
                </a:solidFill>
                <a:latin typeface="Calibri"/>
              </a:defRPr>
            </a:pPr>
            <a:r>
              <a:t>VAR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E0E0E8"/>
                </a:solidFill>
                <a:latin typeface="Calibri"/>
              </a:defRPr>
            </a:pPr>
            <a:r>
              <a:t>Multivariate +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E0E0E8"/>
                </a:solidFill>
                <a:latin typeface="Calibri"/>
              </a:defRPr>
            </a:pPr>
            <a:r>
              <a:t>Granger causality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166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5577840"/>
            <a:ext cx="2011680" cy="91440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5623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34D399"/>
                </a:solidFill>
                <a:latin typeface="Calibri"/>
              </a:defRPr>
            </a:pPr>
            <a:r>
              <a:t>ML / Neural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E0E0E8"/>
                </a:solidFill>
                <a:latin typeface="Calibri"/>
              </a:defRPr>
            </a:pPr>
            <a:r>
              <a:t>XGBoost | Prophet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E0E0E8"/>
                </a:solidFill>
                <a:latin typeface="Calibri"/>
              </a:defRPr>
            </a:pPr>
            <a:r>
              <a:t>NHITS | MLP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5166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XGBoost Forecaster — Internal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Feature engineering + triple-model quantile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474720" cy="47548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914400" cy="320040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F6"/>
                </a:solidFill>
                <a:latin typeface="Calibri"/>
              </a:defRPr>
            </a:pPr>
            <a:r>
              <a:t>Feature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10896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Lag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lag_1 ... lag_12</a:t>
            </a:r>
            <a:br/>
            <a:r>
              <a:t>via series.shift(k)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310896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73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855F7"/>
                </a:solidFill>
                <a:latin typeface="Calibri"/>
              </a:defRPr>
            </a:pPr>
            <a:r>
              <a:t>Rolling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roll_mean_3/6/12</a:t>
            </a:r>
            <a:br/>
            <a:r>
              <a:t>roll_std_3/6/12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89120"/>
            <a:ext cx="310896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62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Fourier Terms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sin/cos pairs</a:t>
            </a:r>
            <a:br/>
            <a:r>
              <a:t>K harmonics at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AAE"/>
                </a:solidFill>
                <a:latin typeface="Calibri"/>
              </a:defRPr>
            </a:pPr>
            <a:r>
              <a:t>build_supervised_matrix()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31920" y="3474720"/>
            <a:ext cx="365760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80560" y="1371600"/>
            <a:ext cx="3474720" cy="47548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1463040"/>
            <a:ext cx="91440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463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3 XGBRegressors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011680"/>
            <a:ext cx="310896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084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Point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reg:squarederror</a:t>
            </a:r>
            <a:br/>
            <a:r>
              <a:t>Optimal point forecast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200400"/>
            <a:ext cx="310896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273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F6"/>
                </a:solidFill>
                <a:latin typeface="Calibri"/>
              </a:defRPr>
            </a:pPr>
            <a:r>
              <a:t>Lower Bound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reg:quantileerror</a:t>
            </a:r>
            <a:br/>
            <a:r>
              <a:t>alpha/2 = 0.025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389120"/>
            <a:ext cx="310896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4462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Calibri"/>
              </a:defRPr>
            </a:pPr>
            <a:r>
              <a:t>Upper Bound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754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reg:quantileerror</a:t>
            </a:r>
            <a:br/>
            <a:r>
              <a:t>1-alpha/2 = 0.975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046720" y="3474720"/>
            <a:ext cx="365760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95360" y="1371600"/>
            <a:ext cx="3200400" cy="475488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78240" y="1463040"/>
            <a:ext cx="91440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alibri"/>
              </a:defRPr>
            </a:pPr>
            <a:r>
              <a:t>Recursive Predict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0E0E8"/>
                </a:solidFill>
                <a:latin typeface="Calibri"/>
              </a:defRPr>
            </a:pPr>
            <a:r>
              <a:t>For each step t+1 to t+H: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E0E0E8"/>
                </a:solidFill>
                <a:latin typeface="Calibri"/>
              </a:defRPr>
            </a:pPr>
            <a:r>
              <a:t>1. Compute features from</a:t>
            </a:r>
            <a:br/>
            <a:r>
              <a:t>   history (including prior</a:t>
            </a:r>
            <a:br/>
            <a:r>
              <a:t>   predictions)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E0E0E8"/>
                </a:solidFill>
                <a:latin typeface="Calibri"/>
              </a:defRPr>
            </a:pPr>
            <a:r>
              <a:t>2. Predict with all 3 models:</a:t>
            </a:r>
            <a:br/>
            <a:r>
              <a:t>   point, lower, upper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E0E0E8"/>
                </a:solidFill>
                <a:latin typeface="Calibri"/>
              </a:defRPr>
            </a:pPr>
            <a:r>
              <a:t>3. Append prediction to</a:t>
            </a:r>
            <a:br/>
            <a:r>
              <a:t>   history for next step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1">
                <a:solidFill>
                  <a:srgbClr val="34D399"/>
                </a:solidFill>
                <a:latin typeface="Calibri"/>
              </a:defRPr>
            </a:pPr>
            <a:r>
              <a:t>4. Return ForecastResult</a:t>
            </a:r>
            <a:br/>
            <a:r>
              <a:t>   with forecast + PI bounds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Evaluation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5 metrics for comprehensive model assessment</a:t>
            </a:r>
          </a:p>
        </p:txBody>
      </p:sp>
      <p:sp>
        <p:nvSpPr>
          <p:cNvPr id="5" name="Rounded Rectangle 4">
            <a:hlinkClick r:id="rId2"/>
          </p:cNvPr>
          <p:cNvSpPr/>
          <p:nvPr/>
        </p:nvSpPr>
        <p:spPr>
          <a:xfrm>
            <a:off x="9601200" y="320040"/>
            <a:ext cx="201168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View on Excalidraw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148840" cy="438912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148840" cy="54864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Mean Absolute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965960" cy="5943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Calibri"/>
              </a:defRPr>
            </a:pPr>
            <a:r>
              <a:t>(1/n) x SUM |y - y_hat|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Average error in original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Simple, interpretable, robust to 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USE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All errors equally costly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9192" y="1280160"/>
            <a:ext cx="2148840" cy="438912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9192" y="1280160"/>
            <a:ext cx="2148840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9192" y="13716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4D399"/>
                </a:solidFill>
                <a:latin typeface="Calibri"/>
              </a:defRPr>
            </a:pPr>
            <a:r>
              <a:t>Root Mean Square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70632" y="2331720"/>
            <a:ext cx="1965960" cy="5943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16352" y="237744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Calibri"/>
              </a:defRPr>
            </a:pPr>
            <a:r>
              <a:t>SQRT( (1/n) x SUM (y - y_hat)^2 )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0632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32918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Penalises large deviations more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38862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0632" y="4114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Differentiable, standard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0632" y="47091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USE WHEN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Large misses are costly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46904" y="1280160"/>
            <a:ext cx="2148840" cy="438912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46904" y="1280160"/>
            <a:ext cx="2148840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46904" y="13716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8344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Mean Abs Percentage Error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38344" y="2331720"/>
            <a:ext cx="1965960" cy="5943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237744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Calibri"/>
              </a:defRPr>
            </a:pPr>
            <a:r>
              <a:t>(100/n) x SUM |y - y_hat| / |y|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44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MEASURES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8344" y="32918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Scale-independent % error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8344" y="38862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38344" y="4114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Cross-series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38344" y="47091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USE WHEN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8344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% accuracy across products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14616" y="1280160"/>
            <a:ext cx="2148840" cy="438912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14616" y="1280160"/>
            <a:ext cx="2148840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14616" y="13716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sMAPE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06056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855F7"/>
                </a:solidFill>
                <a:latin typeface="Calibri"/>
              </a:defRPr>
            </a:pPr>
            <a:r>
              <a:t>Symmetric MAPE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06056" y="2331720"/>
            <a:ext cx="1965960" cy="5943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6" y="237744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Calibri"/>
              </a:defRPr>
            </a:pPr>
            <a:r>
              <a:t>(100/n) x SUM |y-y_hat| / ((|y|+|y_hat|)/2)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06056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MEASURES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06056" y="32918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Symmetric, handles near-zero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06056" y="38862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06056" y="4114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Bounded 0-200%, fairer than MAPE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06056" y="47091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USE WHEN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6056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Low-value data periods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82328" y="1280160"/>
            <a:ext cx="2148840" cy="438912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82328" y="1280160"/>
            <a:ext cx="2148840" cy="548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82328" y="13716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R-squared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73768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Calibri"/>
              </a:defRPr>
            </a:pPr>
            <a:r>
              <a:t>Coefficient of Determination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73768" y="2331720"/>
            <a:ext cx="1965960" cy="5943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9488" y="237744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Calibri"/>
              </a:defRPr>
            </a:pPr>
            <a:r>
              <a:t>1 - SS_res / SS_tot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73768" y="3063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MEASURES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73768" y="32918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Proportion of variance explained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73768" y="38862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73768" y="411480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Single quality score (1.0 = perfect)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73768" y="47091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USE WHEN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73768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Overall model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Metric Selection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Choosing the right KPI for your business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9144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"How far off are we in real units?"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914400" cy="320040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554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+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7160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Directly interpretable in the same units as your data. If your energy forecast is off by 50 MW on average, stakeholders immediately understand the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9144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"How costly are our worst misses?"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514600"/>
            <a:ext cx="91440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60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+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37744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Squares errors before averaging, so a single large miss (e.g. 500 MW spike) dominates. Critical for grid balancing and inventory where big errors are expensive.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11247120" cy="9144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"What's our % accuracy across products?"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520440"/>
            <a:ext cx="91440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+ sMAPE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38328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Scale-independent percentage allows comparing a 10-unit product vs a 10,000-unit product. Warning: unreliable near zero.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11247120" cy="9144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"% accuracy with near-zero values?"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4526280"/>
            <a:ext cx="91440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sMAPE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572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+ 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38912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Uses the average of actual and forecast in the denominator, avoiding division-by-zero. Bounded 0-200%. Preferred for intermittent demand.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03520"/>
            <a:ext cx="11247120" cy="9144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440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"Overall model quality score?"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5532120"/>
            <a:ext cx="91440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R-squared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577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+ RMSE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3949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Single number from 0 to 1 showing how much variance the model captures. R-squared=0.92 means the model explains 92% of the data's variability.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126480"/>
            <a:ext cx="11247120" cy="45720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Default leaderboard sort: RMSE (penalises large errors, most commonly used in production forecasting)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Current Toolkit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Module readiness and codebase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64592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280160"/>
            <a:ext cx="91440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6272" y="134416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80160"/>
            <a:ext cx="91440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134416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280160"/>
            <a:ext cx="118872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1344168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280160"/>
            <a:ext cx="411480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344168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82496"/>
            <a:ext cx="16459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74650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config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1682496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174650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1 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682496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174650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2.3 KB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682496"/>
            <a:ext cx="11887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1746504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682496"/>
            <a:ext cx="41148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1746504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Singleton, env-var driven, UUID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084832"/>
            <a:ext cx="164592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148840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connectivity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084832"/>
            <a:ext cx="9144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2148840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4 files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2084832"/>
            <a:ext cx="9144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0672" y="2148840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21.6 KB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2084832"/>
            <a:ext cx="118872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5072" y="2148840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2084832"/>
            <a:ext cx="41148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2148840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CSV, Excel, TimescaleDB, Weather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487168"/>
            <a:ext cx="16459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2551176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cleaning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487168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76272" y="255117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2 files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2487168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90672" y="255117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4.5 KB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2487168"/>
            <a:ext cx="11887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05072" y="2551176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2487168"/>
            <a:ext cx="41148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93792" y="2551176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Fluent API, interpolate/ffill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889504"/>
            <a:ext cx="164592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2953512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signals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2889504"/>
            <a:ext cx="9144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76272" y="2953512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1 file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2889504"/>
            <a:ext cx="9144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90672" y="2953512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5.6 KB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2889504"/>
            <a:ext cx="118872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05072" y="2953512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889504"/>
            <a:ext cx="41148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93792" y="2953512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Log, Sqrt, Box-Cox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291840"/>
            <a:ext cx="16459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3355848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3291840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76272" y="335584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3 files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3291840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90672" y="335584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11.6 KB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31920" y="3291840"/>
            <a:ext cx="11887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05072" y="3355848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0" y="3291840"/>
            <a:ext cx="41148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93792" y="3355848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Lags, rolling, Fourier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694176"/>
            <a:ext cx="164592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375818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forecasting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3694176"/>
            <a:ext cx="9144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76272" y="375818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5 files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3694176"/>
            <a:ext cx="9144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90672" y="375818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41.4 KB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31920" y="3694176"/>
            <a:ext cx="118872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05072" y="3758184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20640" y="3694176"/>
            <a:ext cx="41148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93792" y="3758184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9 models, 4 paradigms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096512"/>
            <a:ext cx="16459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352" y="4160520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4096512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76272" y="4160520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3 files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096512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90672" y="4160520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10.1 KB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31920" y="4096512"/>
            <a:ext cx="11887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05072" y="4160520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20640" y="4096512"/>
            <a:ext cx="41148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93792" y="4160520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5 KPIs, leaderboard, trace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498848"/>
            <a:ext cx="164592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0352" y="4562856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viz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03120" y="4498848"/>
            <a:ext cx="9144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176272" y="456285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5 files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017520" y="4498848"/>
            <a:ext cx="9144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090672" y="456285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12.1 KB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31920" y="4498848"/>
            <a:ext cx="118872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05072" y="4562856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20640" y="4498848"/>
            <a:ext cx="4114800" cy="38404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193792" y="4562856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5 plot types, styled HTML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901184"/>
            <a:ext cx="16459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0352" y="4965192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F6"/>
                </a:solidFill>
                <a:latin typeface="Calibri"/>
              </a:defRPr>
            </a:pPr>
            <a:r>
              <a:t>experiment runner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103120" y="4901184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176272" y="4965192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1 file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17520" y="4901184"/>
            <a:ext cx="9144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90672" y="4965192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8"/>
                </a:solidFill>
                <a:latin typeface="Calibri"/>
              </a:defRPr>
            </a:pPr>
            <a:r>
              <a:t>~15 KB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31920" y="4901184"/>
            <a:ext cx="118872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005072" y="4965192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20640" y="4901184"/>
            <a:ext cx="4114800" cy="384048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93792" y="4965192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YAML-driven, checkpointing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326880" y="1280160"/>
            <a:ext cx="2468880" cy="6858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18320" y="1371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A8F6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195560" y="1463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Python Modules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326880" y="2057400"/>
            <a:ext cx="2468880" cy="6858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41832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A8F6"/>
                </a:solidFill>
                <a:latin typeface="Calibri"/>
              </a:defRPr>
            </a:pPr>
            <a:r>
              <a:t>~3K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95560" y="2240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326880" y="2834640"/>
            <a:ext cx="2468880" cy="6858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18320" y="2926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A8F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19556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Forecast Models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26880" y="3611880"/>
            <a:ext cx="2468880" cy="6858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418320" y="3703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A8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195560" y="3794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KPI Metrics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326880" y="4389120"/>
            <a:ext cx="2468880" cy="6858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418320" y="4480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A8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195560" y="4572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326880" y="5166360"/>
            <a:ext cx="2468880" cy="6858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418320" y="5257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A8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95560" y="5349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Design Patterns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&amp; Gap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Identified risks and mitigation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Core Functionality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444752"/>
            <a:ext cx="822960" cy="2743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All 9 modules are production-ready and fully 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Calibri"/>
              </a:defRPr>
            </a:pPr>
            <a:r>
              <a:t>Continue maintenance and feature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52928"/>
            <a:ext cx="54864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Test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926080"/>
            <a:ext cx="82296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64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0% test coverage - no pytest suite, no unit or integration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576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13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Calibri"/>
              </a:defRPr>
            </a:pPr>
            <a:r>
              <a:t>Add pytest with unit tests for metrics, transforms, features + integration tests for forecasting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34256"/>
            <a:ext cx="54864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07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407408"/>
            <a:ext cx="82296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457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No GitHub Actions, no automated linting, testing, or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3892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943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Calibri"/>
              </a:defRPr>
            </a:pPr>
            <a:r>
              <a:t>Add GitHub Actions workflow: ruff lint + pytest + build on every PR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371600"/>
            <a:ext cx="54864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444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07040" y="1444752"/>
            <a:ext cx="822960" cy="2743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Comprehensive README, ONBOARDING guide, and ARCHITECTURE 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17627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31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Calibri"/>
              </a:defRPr>
            </a:pPr>
            <a:r>
              <a:t>Maintain as features are added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852928"/>
            <a:ext cx="54864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Packaging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07040" y="2926080"/>
            <a:ext cx="822960" cy="2743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264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setup.py with optional extras [ml], [neural], [all]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6576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813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Calibri"/>
              </a:defRPr>
            </a:pPr>
            <a:r>
              <a:t>Consider migrating to pyproject.toml (modern standard)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334256"/>
            <a:ext cx="54864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407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07040" y="4407408"/>
            <a:ext cx="822960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7457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8"/>
                </a:solidFill>
                <a:latin typeface="Calibri"/>
              </a:defRPr>
            </a:pPr>
            <a:r>
              <a:t>K8s YAML exists but Docker Compose is placeholder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3892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2943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Calibri"/>
              </a:defRPr>
            </a:pPr>
            <a:r>
              <a:t>Build production Docker image, add Helm chart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Design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6 patterns powering the toolkit architecture</a:t>
            </a:r>
          </a:p>
        </p:txBody>
      </p:sp>
      <p:sp>
        <p:nvSpPr>
          <p:cNvPr id="5" name="Rounded Rectangle 4">
            <a:hlinkClick r:id="rId2"/>
          </p:cNvPr>
          <p:cNvSpPr/>
          <p:nvPr/>
        </p:nvSpPr>
        <p:spPr>
          <a:xfrm>
            <a:off x="9601200" y="320040"/>
            <a:ext cx="201168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View on Excalidraw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21945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F6"/>
                </a:solidFill>
                <a:latin typeface="Calibri"/>
              </a:defRPr>
            </a:pPr>
            <a:r>
              <a:t>Fluent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DataCleaner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.load().sanitize().result()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A8F6"/>
                </a:solidFill>
                <a:latin typeface="Calibri"/>
              </a:defRPr>
            </a:pPr>
            <a:r>
              <a:t>Readable, chainable</a:t>
            </a:r>
            <a:br/>
            <a:r>
              <a:t>data pipelines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371600"/>
            <a:ext cx="3566160" cy="21945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288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011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BaseTransform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2860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468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Log / Sqrt / BoxCox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7889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55F7"/>
                </a:solidFill>
                <a:latin typeface="Calibri"/>
              </a:defRPr>
            </a:pPr>
            <a:r>
              <a:t>Pluggable transforms</a:t>
            </a:r>
            <a:br/>
            <a:r>
              <a:t>without code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1371600"/>
            <a:ext cx="3566160" cy="21945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Abstract Factory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8288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011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BaseForecaster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2860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468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9 concrete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7889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Calibri"/>
              </a:defRPr>
            </a:pPr>
            <a:r>
              <a:t>Drop-in model swap</a:t>
            </a:r>
            <a:br/>
            <a:r>
              <a:t>Uniform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49040"/>
            <a:ext cx="3566160" cy="21945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Singleton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206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WHERE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389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CONFIG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6634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HOW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846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Global state + UUID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166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349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Single source of truth</a:t>
            </a:r>
            <a:br/>
            <a:r>
              <a:t>Consistent config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3749040"/>
            <a:ext cx="3566160" cy="21945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Calibri"/>
              </a:defRPr>
            </a:pPr>
            <a:r>
              <a:t>Visitor/Aggregator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4206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WHERE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4389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ModelComparison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46634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HOW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4846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.add().leaderboard()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166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5349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72B6"/>
                </a:solidFill>
                <a:latin typeface="Calibri"/>
              </a:defRPr>
            </a:pPr>
            <a:r>
              <a:t>Heterogeneous model</a:t>
            </a:r>
            <a:br/>
            <a:r>
              <a:t>evaluation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3749040"/>
            <a:ext cx="3566160" cy="219456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alibri"/>
              </a:defRPr>
            </a:pPr>
            <a:r>
              <a:t>Correlation 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4206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WHERE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4389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All Modules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46634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HOW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4846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UUID v4 propagation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5166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A9AAE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5349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D3EE"/>
                </a:solidFill>
                <a:latin typeface="Calibri"/>
              </a:defRPr>
            </a:pPr>
            <a:r>
              <a:t>End-to-end audit</a:t>
            </a:r>
            <a:br/>
            <a:r>
              <a:t>trail across logs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YAML-driven, checkpoint-resumable experiment runner</a:t>
            </a:r>
          </a:p>
        </p:txBody>
      </p:sp>
      <p:sp>
        <p:nvSpPr>
          <p:cNvPr id="5" name="Rounded Rectangle 4">
            <a:hlinkClick r:id="rId2"/>
          </p:cNvPr>
          <p:cNvSpPr/>
          <p:nvPr/>
        </p:nvSpPr>
        <p:spPr>
          <a:xfrm>
            <a:off x="9601200" y="320040"/>
            <a:ext cx="201168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View on Excalidraw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02920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65760" cy="320040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F6"/>
                </a:solidFill>
                <a:latin typeface="Calibri"/>
              </a:defRPr>
            </a:pPr>
            <a:r>
              <a:t>Load params.yaml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01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Validate configuration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834640" y="2304288"/>
            <a:ext cx="128016" cy="9144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502920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36576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Calibri"/>
              </a:defRPr>
            </a:pPr>
            <a:r>
              <a:t>Create experiment dir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62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experiments/{name}_{ts}_{id}/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834640" y="3264408"/>
            <a:ext cx="128016" cy="9144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383280"/>
            <a:ext cx="502920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36576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Iterate enabled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22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ARIMA, ETS, HW, XGB, Prophet, VAR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34640" y="4224528"/>
            <a:ext cx="128016" cy="9144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343400"/>
            <a:ext cx="502920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36576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Fit &amp; evaluate 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Save checkpoint + run JSON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834640" y="5184648"/>
            <a:ext cx="128016" cy="9144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303520"/>
            <a:ext cx="502920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5532120"/>
            <a:ext cx="3657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Export leaderboard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742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leaderboard.json + summary.json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1463040"/>
            <a:ext cx="5760720" cy="50292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554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Output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A9AAE"/>
                </a:solidFill>
                <a:latin typeface="Calibri"/>
              </a:defRPr>
            </a:pPr>
            <a:r>
              <a:t>params.yaml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Frozen config snapshot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F6"/>
                </a:solidFill>
                <a:latin typeface="Calibri"/>
              </a:defRPr>
            </a:pPr>
            <a:r>
              <a:t>checkpoints/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Top-N model .pkl files by metric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runs/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Per-model run records (.json)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855F7"/>
                </a:solidFill>
                <a:latin typeface="Calibri"/>
              </a:defRPr>
            </a:pPr>
            <a:r>
              <a:t>test_runs/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Test-set evaluation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A9AAE"/>
                </a:solidFill>
                <a:latin typeface="Calibri"/>
              </a:defRPr>
            </a:pPr>
            <a:r>
              <a:t>logs/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Structured per-model log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Calibri"/>
              </a:defRPr>
            </a:pPr>
            <a:r>
              <a:t>plots/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Forecast visualisation PNGs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results/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leaderboard.json + summary.json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292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Key Features: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3035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  Checkpoint-based resumption (--resume flag)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55955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  Top-N best model retention, pruned by metric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8155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  Sprint snapshots at configurable intervals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607161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  Structured logging with timestamps per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Dependencies and their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645920" cy="59436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280160"/>
            <a:ext cx="411480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pandas &gt;= 2.0  |  numpy &gt;= 1.24  |  scipy &gt;= 1.10  |  matplotlib &gt;= 3.7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Data manipulation, numerical computation, visualization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9384"/>
            <a:ext cx="1645920" cy="5943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Statistical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929384"/>
            <a:ext cx="411480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06654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statsmodels &gt;= 0.14  |  pmdarima &gt;= 2.0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29384"/>
            <a:ext cx="539496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665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ARIMA, ETS, Holt-Winters, VAR, Granger causality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78608"/>
            <a:ext cx="164592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578608"/>
            <a:ext cx="411480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27157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xgboost &gt;= 2.0  |  prophet &gt;= 1.1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578608"/>
            <a:ext cx="539496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715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Gradient boosting, trend decomposition with changepoints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27832"/>
            <a:ext cx="1645920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Neural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227832"/>
            <a:ext cx="411480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33649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neuralforecast &gt;= 1.6  |  (PyTorch backend)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227832"/>
            <a:ext cx="539496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364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NHITS and MLP deep learning forecasters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77056"/>
            <a:ext cx="1645920" cy="594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0142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3877056"/>
            <a:ext cx="411480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01421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nixtla &gt;= 0.5  |  NIXTLA_API_KEY env var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877056"/>
            <a:ext cx="539496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0142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TimeGPT zero-shot forecasting via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26280"/>
            <a:ext cx="1645920" cy="5943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4526280"/>
            <a:ext cx="411480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4663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sqlalchemy &gt;= 2.0  |  psycopg2-binary &gt;= 2.9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526280"/>
            <a:ext cx="539496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663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TimescaleDB time-series database connectivity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75504"/>
            <a:ext cx="1645920" cy="5943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3126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Weather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8840" y="5175504"/>
            <a:ext cx="411480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0" y="531266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Open-Meteo API  |  (no API key required)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175504"/>
            <a:ext cx="539496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53126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Free historical and forecast weather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824728"/>
            <a:ext cx="1645920" cy="594360"/>
          </a:xfrm>
          <a:prstGeom prst="rect">
            <a:avLst/>
          </a:prstGeom>
          <a:solidFill>
            <a:srgbClr val="9A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961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8840" y="5824728"/>
            <a:ext cx="411480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0" y="5961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Kubernetes  |  Docker Compose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824728"/>
            <a:ext cx="5394960" cy="594360"/>
          </a:xfrm>
          <a:prstGeom prst="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59618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AAE"/>
                </a:solidFill>
                <a:latin typeface="Calibri"/>
              </a:defRPr>
            </a:pPr>
            <a:r>
              <a:t>GPU cluster job execution, local dev environment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852160"/>
            <a:ext cx="11247120" cy="64008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8978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D3EE"/>
                </a:solidFill>
                <a:latin typeface="Calibri"/>
              </a:defRPr>
            </a:pPr>
            <a:r>
              <a:t>pip install -e .          # Core only</a:t>
            </a:r>
            <a:br/>
            <a:r>
              <a:t>pip install -e ".[ml]"    # + XGBoost, Prophet</a:t>
            </a:r>
            <a:br/>
            <a:r>
              <a:t>pip install -e ".[all]"   # Everything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Roadmap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09728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AE"/>
                </a:solidFill>
                <a:latin typeface="Calibri"/>
              </a:defRPr>
            </a:pPr>
            <a:r>
              <a:t>Prioritised next steps for production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457200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329184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286000"/>
            <a:ext cx="2743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Add Test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pytest with unit + integration tests for all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83280"/>
            <a:ext cx="329184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2743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56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Set Up CI/CD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GitHub Actions: ruff lint + pytest + build on every 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371600"/>
            <a:ext cx="3566160" cy="457200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371600"/>
            <a:ext cx="3566160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417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SHORT-TERM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691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High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194560"/>
            <a:ext cx="329184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34840" y="2286000"/>
            <a:ext cx="274320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Migrate to pyproject.toml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606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Modern Python packaging standard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383280"/>
            <a:ext cx="329184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34840" y="3474720"/>
            <a:ext cx="274320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456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Dockerize Toolkit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794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Production-ready container image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572000"/>
            <a:ext cx="329184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34840" y="4663440"/>
            <a:ext cx="274320" cy="274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645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Add Backtesting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983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Walk-forward cross-validation for robust evaluation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1371600"/>
            <a:ext cx="3566160" cy="4572000"/>
          </a:xfrm>
          <a:prstGeom prst="roundRect">
            <a:avLst/>
          </a:prstGeom>
          <a:solidFill>
            <a:srgbClr val="1E1E36"/>
          </a:solidFill>
          <a:ln w="2540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80" y="1371600"/>
            <a:ext cx="3566160" cy="64008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1417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1691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2194560"/>
            <a:ext cx="329184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83880" y="2286000"/>
            <a:ext cx="274320" cy="274320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F6"/>
                </a:solidFill>
                <a:latin typeface="Calibri"/>
              </a:defRPr>
            </a:pPr>
            <a:r>
              <a:t>Model Registry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2606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MLflow integration for experiment tracking at scale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3383280"/>
            <a:ext cx="329184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83880" y="3474720"/>
            <a:ext cx="274320" cy="274320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456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F6"/>
                </a:solidFill>
                <a:latin typeface="Calibri"/>
              </a:defRPr>
            </a:pPr>
            <a:r>
              <a:t>API Service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794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FastAPI wrapper for serving forecasts as REST endpoints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4572000"/>
            <a:ext cx="3291840" cy="10058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83880" y="4663440"/>
            <a:ext cx="274320" cy="274320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645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F6"/>
                </a:solidFill>
                <a:latin typeface="Calibri"/>
              </a:defRPr>
            </a:pPr>
            <a:r>
              <a:t>Streaming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983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Calibri"/>
              </a:defRPr>
            </a:pPr>
            <a:r>
              <a:t>Real-time forecast updates for live data feeds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aic_ts_suite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2D3EE"/>
                </a:solidFill>
                <a:latin typeface="Calibri"/>
              </a:defRPr>
            </a:pPr>
            <a:r>
              <a:t>Modular Time-Series Forecasting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2743200" cy="38100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566160"/>
            <a:ext cx="91440" cy="91440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02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9 forecasting models across 4 paradigms — from classical ARIMA to zero-shot TimeGPT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977640"/>
            <a:ext cx="91440" cy="91440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136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5 standardised KPIs with automated model comparison leaderboard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91440" cy="91440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3251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End-to-end data pipeline: ingestion, cleaning, features, forecasting, evaluation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800600"/>
            <a:ext cx="91440" cy="91440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36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YAML-driven experiment orchestration with checkpoint/resume capability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5212080"/>
            <a:ext cx="91440" cy="91440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1480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UUID v4 correlation IDs for full run traceability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623560"/>
            <a:ext cx="91440" cy="91440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559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Calibri"/>
              </a:defRPr>
            </a:pPr>
            <a:r>
              <a:t>All modules production-ready — immediate priorities: testing &amp; 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AAE"/>
                </a:solidFill>
                <a:latin typeface="Calibri"/>
              </a:defRPr>
            </a:pPr>
            <a:r>
              <a:t>Interactive Architecture Diagrams: ARCHITECTURE.md  |  Analytics Engineering Team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